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_rels/presentation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_rels/slide13.xml.rels" ContentType="application/vnd.openxmlformats-package.relationships+xml"/>
  <Override PartName="/ppt/slides/_rels/slide9.xml.rels" ContentType="application/vnd.openxmlformats-package.relationships+xml"/>
  <Override PartName="/ppt/slides/_rels/slide12.xml.rels" ContentType="application/vnd.openxmlformats-package.relationships+xml"/>
  <Override PartName="/ppt/slides/_rels/slide8.xml.rels" ContentType="application/vnd.openxmlformats-package.relationships+xml"/>
  <Override PartName="/ppt/slides/_rels/slide11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_rels/notesSlide13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.xml.rels" ContentType="application/vnd.openxmlformats-package.relationshi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rtl="0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Double-tap to move the slide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trike="noStrike" u="none">
                <a:solidFill>
                  <a:srgbClr val="000000"/>
                </a:solidFill>
                <a:uFillTx/>
                <a:latin typeface="Arial"/>
              </a:rPr>
              <a:t>Double-tap to edit the notes format</a:t>
            </a:r>
            <a:endParaRPr b="0" lang="en-US" sz="2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uFillTx/>
                <a:latin typeface="Arial"/>
              </a:defRPr>
            </a:lvl1pPr>
          </a:lstStyle>
          <a:p>
            <a:pPr indent="0" algn="r">
              <a:buNone/>
            </a:pPr>
            <a:fld id="{6B572F53-FC3E-4353-9E66-8FAB06EA6039}" type="slidenum">
              <a:rPr b="0" lang="en-US" sz="1400" strike="noStrike" u="none">
                <a:solidFill>
                  <a:srgbClr val="000000"/>
                </a:solidFill>
                <a:uFillTx/>
                <a:latin typeface="Arial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trike="noStrike" u="none">
              <a:solidFill>
                <a:schemeClr val="dk1"/>
              </a:solidFill>
              <a:uFillTx/>
              <a:latin typeface="+mn-lt"/>
              <a:ea typeface="+mn-ea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trike="noStrike" u="none">
              <a:solidFill>
                <a:schemeClr val="dk1"/>
              </a:solidFill>
              <a:uFillTx/>
              <a:latin typeface="+mn-lt"/>
              <a:ea typeface="+mn-ea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trike="noStrike" u="none">
              <a:solidFill>
                <a:schemeClr val="dk1"/>
              </a:solidFill>
              <a:uFillTx/>
              <a:latin typeface="+mn-lt"/>
              <a:ea typeface="+mn-ea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trike="noStrike" u="none">
              <a:solidFill>
                <a:schemeClr val="dk1"/>
              </a:solidFill>
              <a:uFillTx/>
              <a:latin typeface="+mn-lt"/>
              <a:ea typeface="+mn-ea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trike="noStrike" u="none">
              <a:solidFill>
                <a:schemeClr val="dk1"/>
              </a:solidFill>
              <a:uFillTx/>
              <a:latin typeface="+mn-lt"/>
              <a:ea typeface="+mn-ea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trike="noStrike" u="none">
              <a:solidFill>
                <a:schemeClr val="dk1"/>
              </a:solidFill>
              <a:uFillTx/>
              <a:latin typeface="+mn-lt"/>
              <a:ea typeface="+mn-ea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trike="noStrike" u="none">
              <a:solidFill>
                <a:schemeClr val="dk1"/>
              </a:solidFill>
              <a:uFillTx/>
              <a:latin typeface="+mn-lt"/>
              <a:ea typeface="+mn-ea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trike="noStrike" u="none">
              <a:solidFill>
                <a:schemeClr val="dk1"/>
              </a:solidFill>
              <a:uFillTx/>
              <a:latin typeface="+mn-lt"/>
              <a:ea typeface="+mn-ea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trike="noStrike" u="none">
              <a:solidFill>
                <a:schemeClr val="dk1"/>
              </a:solidFill>
              <a:uFillTx/>
              <a:latin typeface="+mn-lt"/>
              <a:ea typeface="+mn-ea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trike="noStrike" u="none">
              <a:solidFill>
                <a:schemeClr val="dk1"/>
              </a:solidFill>
              <a:uFillTx/>
              <a:latin typeface="+mn-lt"/>
              <a:ea typeface="+mn-ea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trike="noStrike" u="none">
              <a:solidFill>
                <a:schemeClr val="dk1"/>
              </a:solidFill>
              <a:uFillTx/>
              <a:latin typeface="+mn-lt"/>
              <a:ea typeface="+mn-ea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trike="noStrike" u="none">
              <a:solidFill>
                <a:schemeClr val="dk1"/>
              </a:solidFill>
              <a:uFillTx/>
              <a:latin typeface="+mn-lt"/>
              <a:ea typeface="+mn-ea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>
              <a:buNone/>
            </a:pPr>
            <a:endParaRPr b="0" lang="en-US" sz="1200" strike="noStrike" u="none">
              <a:solidFill>
                <a:schemeClr val="dk1"/>
              </a:solidFill>
              <a:uFillTx/>
              <a:latin typeface="+mn-lt"/>
              <a:ea typeface="+mn-ea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uFillTx/>
                <a:latin typeface="Calibri"/>
              </a:rPr>
              <a:t>Double-tap to edit the title text format</a:t>
            </a:r>
            <a:endParaRPr b="0" lang="en-US" sz="18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uFillTx/>
                <a:latin typeface="Calibri"/>
              </a:rPr>
              <a:t>Double-tap to edit the outline text format</a:t>
            </a:r>
            <a:endParaRPr b="0" lang="en-US" sz="32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0"/>
          <p:cNvSpPr/>
          <p:nvPr/>
        </p:nvSpPr>
        <p:spPr>
          <a:xfrm>
            <a:off x="0" y="0"/>
            <a:ext cx="9143640" cy="36540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457200" y="16459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0891b2"/>
                </a:solidFill>
                <a:uFillTx/>
                <a:latin typeface="Arial"/>
                <a:ea typeface="Arial"/>
              </a:rPr>
              <a:t>SUMMER PROJECT PRESENTATION</a:t>
            </a:r>
            <a:endParaRPr b="0" lang="en-US" sz="13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457200" y="2057400"/>
            <a:ext cx="82292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50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LRU CACHE SIMULATOR</a:t>
            </a:r>
            <a:endParaRPr b="0" lang="en-US" sz="50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457200" y="2880360"/>
            <a:ext cx="82292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200" strike="noStrike" u="none">
                <a:solidFill>
                  <a:srgbClr val="06b6d4"/>
                </a:solidFill>
                <a:uFillTx/>
                <a:latin typeface="Arial"/>
                <a:ea typeface="Arial"/>
              </a:rPr>
              <a:t>Efficient Memory Management System</a:t>
            </a:r>
            <a:endParaRPr b="0" lang="en-US" sz="22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457200" y="379476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VARDHAMAN COLLEGE OF ENGINEERING</a:t>
            </a:r>
            <a:endParaRPr b="0" lang="en-US" sz="1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CSE Department  •  Autonomous Institute</a:t>
            </a:r>
            <a:endParaRPr b="0" lang="en-US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457200" y="4892040"/>
            <a:ext cx="8229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uFillTx/>
                <a:latin typeface="Arial"/>
                <a:ea typeface="Arial"/>
              </a:rPr>
              <a:t>VARDHAMAN COLLEGE OF ENGINEERING • DEPT OF COMPUTER SCIENCE &amp; ENGINEERING</a:t>
            </a:r>
            <a:endParaRPr b="0" lang="en-US" sz="85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/>
          <p:cNvSpPr/>
          <p:nvPr/>
        </p:nvSpPr>
        <p:spPr>
          <a:xfrm>
            <a:off x="0" y="0"/>
            <a:ext cx="9143640" cy="45684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15" name="Text 1"/>
          <p:cNvSpPr/>
          <p:nvPr/>
        </p:nvSpPr>
        <p:spPr>
          <a:xfrm>
            <a:off x="457200" y="10980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PROJECT OVERVIEW</a:t>
            </a:r>
            <a:endParaRPr b="0" lang="en-US" sz="24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6" name="Text 2"/>
          <p:cNvSpPr/>
          <p:nvPr/>
        </p:nvSpPr>
        <p:spPr>
          <a:xfrm>
            <a:off x="365760" y="73152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c5282"/>
                </a:solidFill>
                <a:uFillTx/>
                <a:latin typeface="Arial"/>
                <a:ea typeface="Arial"/>
              </a:rPr>
              <a:t>Project Title: LRU Cache Simulator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7" name="Text 3"/>
          <p:cNvSpPr/>
          <p:nvPr/>
        </p:nvSpPr>
        <p:spPr>
          <a:xfrm>
            <a:off x="365760" y="102420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e293b"/>
                </a:solidFill>
                <a:uFillTx/>
                <a:latin typeface="Arial"/>
                <a:ea typeface="Arial"/>
              </a:rPr>
              <a:t>About: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8" name="Text 4"/>
          <p:cNvSpPr/>
          <p:nvPr/>
        </p:nvSpPr>
        <p:spPr>
          <a:xfrm>
            <a:off x="1554480" y="1024200"/>
            <a:ext cx="7223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uFillTx/>
                <a:latin typeface="Arial"/>
                <a:ea typeface="Arial"/>
              </a:rPr>
              <a:t>A comprehensive C++ implementation demonstrating LRU Cache with stack-based data structure for efficient memory management.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9" name="Text 5"/>
          <p:cNvSpPr/>
          <p:nvPr/>
        </p:nvSpPr>
        <p:spPr>
          <a:xfrm>
            <a:off x="365760" y="1463040"/>
            <a:ext cx="21027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e293b"/>
                </a:solidFill>
                <a:uFillTx/>
                <a:latin typeface="Arial"/>
                <a:ea typeface="Arial"/>
              </a:rPr>
              <a:t>Technology: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Text 6"/>
          <p:cNvSpPr/>
          <p:nvPr/>
        </p:nvSpPr>
        <p:spPr>
          <a:xfrm>
            <a:off x="2560320" y="1463040"/>
            <a:ext cx="621756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uFillTx/>
                <a:latin typeface="Arial"/>
                <a:ea typeface="Arial"/>
              </a:rPr>
              <a:t>Language: C++17  |  Structure: Stack  |  Algorithm: LRU Eviction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Text 7"/>
          <p:cNvSpPr/>
          <p:nvPr/>
        </p:nvSpPr>
        <p:spPr>
          <a:xfrm>
            <a:off x="365760" y="171900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1e293b"/>
                </a:solidFill>
                <a:uFillTx/>
                <a:latin typeface="Arial"/>
                <a:ea typeface="Arial"/>
              </a:rPr>
              <a:t>Features:</a:t>
            </a:r>
            <a:endParaRPr b="0" lang="en-US" sz="11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Text 8"/>
          <p:cNvSpPr/>
          <p:nvPr/>
        </p:nvSpPr>
        <p:spPr>
          <a:xfrm>
            <a:off x="1554480" y="1719000"/>
            <a:ext cx="72234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uFillTx/>
                <a:latin typeface="Arial"/>
                <a:ea typeface="Arial"/>
              </a:rPr>
              <a:t>Interactive console UI  •  Hit/Miss tracking  •  Real-time statistics  •  Batch operations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Text 9"/>
          <p:cNvSpPr/>
          <p:nvPr/>
        </p:nvSpPr>
        <p:spPr>
          <a:xfrm>
            <a:off x="365760" y="2011680"/>
            <a:ext cx="4023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c5282"/>
                </a:solidFill>
                <a:uFillTx/>
                <a:latin typeface="Arial"/>
                <a:ea typeface="Arial"/>
              </a:rPr>
              <a:t>Time Complexity: O(n)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4" name="Text 10"/>
          <p:cNvSpPr/>
          <p:nvPr/>
        </p:nvSpPr>
        <p:spPr>
          <a:xfrm>
            <a:off x="4754880" y="2011680"/>
            <a:ext cx="402300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000" strike="noStrike" u="none">
                <a:solidFill>
                  <a:srgbClr val="2c5282"/>
                </a:solidFill>
                <a:uFillTx/>
                <a:latin typeface="Arial"/>
                <a:ea typeface="Arial"/>
              </a:rPr>
              <a:t>Space Complexity: O(cache_size)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5" name="Text 11"/>
          <p:cNvSpPr/>
          <p:nvPr/>
        </p:nvSpPr>
        <p:spPr>
          <a:xfrm>
            <a:off x="365760" y="2377440"/>
            <a:ext cx="8412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891b2"/>
                </a:solidFill>
                <a:uFillTx/>
                <a:latin typeface="Courier New"/>
                <a:ea typeface="Courier New"/>
              </a:rPr>
              <a:t>Compilation: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0891b2"/>
                </a:solidFill>
                <a:uFillTx/>
                <a:latin typeface="Courier New"/>
                <a:ea typeface="Courier New"/>
              </a:rPr>
              <a:t>g++ -std=c++17 -o lru_cache lru_cache.cpp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6" name="Shape 12"/>
          <p:cNvSpPr/>
          <p:nvPr/>
        </p:nvSpPr>
        <p:spPr>
          <a:xfrm>
            <a:off x="365760" y="2880360"/>
            <a:ext cx="4023000" cy="1462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8fa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7" name="Text 13"/>
          <p:cNvSpPr/>
          <p:nvPr/>
        </p:nvSpPr>
        <p:spPr>
          <a:xfrm>
            <a:off x="548640" y="3017520"/>
            <a:ext cx="36572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e293b"/>
                </a:solidFill>
                <a:uFillTx/>
                <a:latin typeface="Arial"/>
                <a:ea typeface="Arial"/>
              </a:rPr>
              <a:t>Duration: 4 Weeks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e293b"/>
                </a:solidFill>
                <a:uFillTx/>
                <a:latin typeface="Arial"/>
                <a:ea typeface="Arial"/>
              </a:rPr>
              <a:t>Dept: CSE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e293b"/>
                </a:solidFill>
                <a:uFillTx/>
                <a:latin typeface="Arial"/>
                <a:ea typeface="Arial"/>
              </a:rPr>
              <a:t>Semester: II (2025-26)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e293b"/>
                </a:solidFill>
                <a:uFillTx/>
                <a:latin typeface="Arial"/>
                <a:ea typeface="Arial"/>
              </a:rPr>
              <a:t>Batch: Summer Project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8" name="Shape 14"/>
          <p:cNvSpPr/>
          <p:nvPr/>
        </p:nvSpPr>
        <p:spPr>
          <a:xfrm>
            <a:off x="4754880" y="2880360"/>
            <a:ext cx="4023000" cy="1462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8fa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9" name="Text 15"/>
          <p:cNvSpPr/>
          <p:nvPr/>
        </p:nvSpPr>
        <p:spPr>
          <a:xfrm>
            <a:off x="4937760" y="3017520"/>
            <a:ext cx="3657240" cy="11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e293b"/>
                </a:solidFill>
                <a:uFillTx/>
                <a:latin typeface="Arial"/>
                <a:ea typeface="Arial"/>
              </a:rPr>
              <a:t>Development: Unix/Linux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e293b"/>
                </a:solidFill>
                <a:uFillTx/>
                <a:latin typeface="Arial"/>
                <a:ea typeface="Arial"/>
              </a:rPr>
              <a:t>Tools: GCC/G++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e293b"/>
                </a:solidFill>
                <a:uFillTx/>
                <a:latin typeface="Arial"/>
                <a:ea typeface="Arial"/>
              </a:rPr>
              <a:t>Version Control: Git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e293b"/>
                </a:solidFill>
                <a:uFillTx/>
                <a:latin typeface="Arial"/>
                <a:ea typeface="Arial"/>
              </a:rPr>
              <a:t>Documentation: Complete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0" name="Text 16"/>
          <p:cNvSpPr/>
          <p:nvPr/>
        </p:nvSpPr>
        <p:spPr>
          <a:xfrm>
            <a:off x="457200" y="4892040"/>
            <a:ext cx="8229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uFillTx/>
                <a:latin typeface="Arial"/>
                <a:ea typeface="Arial"/>
              </a:rPr>
              <a:t>VARDHAMAN COLLEGE OF ENGINEERING • DEPT OF COMPUTER SCIENCE &amp; ENGINEERING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/>
          <p:cNvSpPr/>
          <p:nvPr/>
        </p:nvSpPr>
        <p:spPr>
          <a:xfrm>
            <a:off x="0" y="0"/>
            <a:ext cx="9143640" cy="45684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32" name="Text 1"/>
          <p:cNvSpPr/>
          <p:nvPr/>
        </p:nvSpPr>
        <p:spPr>
          <a:xfrm>
            <a:off x="457200" y="10980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PROJECT OBJECTIVES</a:t>
            </a:r>
            <a:endParaRPr b="0" lang="en-US" sz="2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3" name="Shape 2"/>
          <p:cNvSpPr/>
          <p:nvPr/>
        </p:nvSpPr>
        <p:spPr>
          <a:xfrm>
            <a:off x="320040" y="1051560"/>
            <a:ext cx="2742840" cy="169128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f8fafc"/>
            </a:solidFill>
            <a:round/>
          </a:ln>
          <a:effectLst>
            <a:outerShdw algn="bl" blurRad="38160" dir="2700000" dist="12218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Text 3"/>
          <p:cNvSpPr/>
          <p:nvPr/>
        </p:nvSpPr>
        <p:spPr>
          <a:xfrm>
            <a:off x="502920" y="1188720"/>
            <a:ext cx="2377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c5282"/>
                </a:solidFill>
                <a:uFillTx/>
                <a:latin typeface="Arial"/>
                <a:ea typeface="Arial"/>
              </a:rPr>
              <a:t>🔧 </a:t>
            </a:r>
            <a:r>
              <a:rPr b="1" lang="en-US" sz="1200" strike="noStrike" u="none">
                <a:solidFill>
                  <a:srgbClr val="2c5282"/>
                </a:solidFill>
                <a:uFillTx/>
                <a:latin typeface="Arial"/>
                <a:ea typeface="Arial"/>
              </a:rPr>
              <a:t>Cache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c5282"/>
                </a:solidFill>
                <a:uFillTx/>
                <a:latin typeface="Arial"/>
                <a:ea typeface="Arial"/>
              </a:rPr>
              <a:t>Implementation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Text 4"/>
          <p:cNvSpPr/>
          <p:nvPr/>
        </p:nvSpPr>
        <p:spPr>
          <a:xfrm>
            <a:off x="502920" y="1828800"/>
            <a:ext cx="2377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2120" rIns="4212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uFillTx/>
                <a:latin typeface="Arial"/>
                <a:ea typeface="Arial"/>
              </a:rPr>
              <a:t>Build a functional LRU cache using stack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Shape 5"/>
          <p:cNvSpPr/>
          <p:nvPr/>
        </p:nvSpPr>
        <p:spPr>
          <a:xfrm>
            <a:off x="3218760" y="1051560"/>
            <a:ext cx="2742840" cy="169128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f8fafc"/>
            </a:solidFill>
            <a:round/>
          </a:ln>
          <a:effectLst>
            <a:outerShdw algn="bl" blurRad="38160" dir="2700000" dist="12218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7" name="Text 6"/>
          <p:cNvSpPr/>
          <p:nvPr/>
        </p:nvSpPr>
        <p:spPr>
          <a:xfrm>
            <a:off x="3401640" y="1188720"/>
            <a:ext cx="2377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c5282"/>
                </a:solidFill>
                <a:uFillTx/>
                <a:latin typeface="Arial"/>
                <a:ea typeface="Arial"/>
              </a:rPr>
              <a:t>📊 </a:t>
            </a:r>
            <a:r>
              <a:rPr b="1" lang="en-US" sz="1200" strike="noStrike" u="none">
                <a:solidFill>
                  <a:srgbClr val="2c5282"/>
                </a:solidFill>
                <a:uFillTx/>
                <a:latin typeface="Arial"/>
                <a:ea typeface="Arial"/>
              </a:rPr>
              <a:t>Performance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c5282"/>
                </a:solidFill>
                <a:uFillTx/>
                <a:latin typeface="Arial"/>
                <a:ea typeface="Arial"/>
              </a:rPr>
              <a:t>Analysis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Text 7"/>
          <p:cNvSpPr/>
          <p:nvPr/>
        </p:nvSpPr>
        <p:spPr>
          <a:xfrm>
            <a:off x="3401640" y="1828800"/>
            <a:ext cx="2377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uFillTx/>
                <a:latin typeface="Arial"/>
                <a:ea typeface="Arial"/>
              </a:rPr>
              <a:t>Track cache hits, misses, and metrics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Shape 8"/>
          <p:cNvSpPr/>
          <p:nvPr/>
        </p:nvSpPr>
        <p:spPr>
          <a:xfrm>
            <a:off x="6117480" y="1051560"/>
            <a:ext cx="2742840" cy="169128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2700">
            <a:solidFill>
              <a:srgbClr val="f8fafc"/>
            </a:solidFill>
            <a:round/>
          </a:ln>
          <a:effectLst>
            <a:outerShdw algn="bl" blurRad="38160" dir="2700000" dist="12218" rotWithShape="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Text 9"/>
          <p:cNvSpPr/>
          <p:nvPr/>
        </p:nvSpPr>
        <p:spPr>
          <a:xfrm>
            <a:off x="6300360" y="1188720"/>
            <a:ext cx="237708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c5282"/>
                </a:solidFill>
                <a:uFillTx/>
                <a:latin typeface="Arial"/>
                <a:ea typeface="Arial"/>
              </a:rPr>
              <a:t>💻 </a:t>
            </a:r>
            <a:r>
              <a:rPr b="1" lang="en-US" sz="1200" strike="noStrike" u="none">
                <a:solidFill>
                  <a:srgbClr val="2c5282"/>
                </a:solidFill>
                <a:uFillTx/>
                <a:latin typeface="Arial"/>
                <a:ea typeface="Arial"/>
              </a:rPr>
              <a:t>Interactive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c5282"/>
                </a:solidFill>
                <a:uFillTx/>
                <a:latin typeface="Arial"/>
                <a:ea typeface="Arial"/>
              </a:rPr>
              <a:t>UI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1" name="Text 10"/>
          <p:cNvSpPr/>
          <p:nvPr/>
        </p:nvSpPr>
        <p:spPr>
          <a:xfrm>
            <a:off x="6300360" y="1828800"/>
            <a:ext cx="23770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64748b"/>
                </a:solidFill>
                <a:uFillTx/>
                <a:latin typeface="Arial"/>
                <a:ea typeface="Arial"/>
              </a:rPr>
              <a:t>User-friendly console interface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2" name="Text 11"/>
          <p:cNvSpPr/>
          <p:nvPr/>
        </p:nvSpPr>
        <p:spPr>
          <a:xfrm>
            <a:off x="457200" y="4892040"/>
            <a:ext cx="8229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uFillTx/>
                <a:latin typeface="Arial"/>
                <a:ea typeface="Arial"/>
              </a:rPr>
              <a:t>VARDHAMAN COLLEGE OF ENGINEERING • DEPT OF COMPUTER SCIENCE &amp; ENGINEERING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0"/>
          <p:cNvSpPr/>
          <p:nvPr/>
        </p:nvSpPr>
        <p:spPr>
          <a:xfrm>
            <a:off x="0" y="0"/>
            <a:ext cx="9143640" cy="45684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4" name="Shape 1"/>
          <p:cNvSpPr/>
          <p:nvPr/>
        </p:nvSpPr>
        <p:spPr>
          <a:xfrm>
            <a:off x="0" y="457200"/>
            <a:ext cx="9143640" cy="7272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5" name="Text 2"/>
          <p:cNvSpPr/>
          <p:nvPr/>
        </p:nvSpPr>
        <p:spPr>
          <a:xfrm>
            <a:off x="457200" y="1645920"/>
            <a:ext cx="8229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0" strike="noStrike" u="none">
                <a:solidFill>
                  <a:srgbClr val="2c5282"/>
                </a:solidFill>
                <a:uFillTx/>
                <a:latin typeface="Arial"/>
                <a:ea typeface="Arial"/>
              </a:rPr>
              <a:t>02</a:t>
            </a:r>
            <a:endParaRPr b="0" lang="en-US" sz="7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Text 3"/>
          <p:cNvSpPr/>
          <p:nvPr/>
        </p:nvSpPr>
        <p:spPr>
          <a:xfrm>
            <a:off x="457200" y="27432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c5282"/>
                </a:solidFill>
                <a:uFillTx/>
                <a:latin typeface="Arial"/>
                <a:ea typeface="Arial"/>
              </a:rPr>
              <a:t>SYSTEM ARCHITECTURE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7" name="Text 4"/>
          <p:cNvSpPr/>
          <p:nvPr/>
        </p:nvSpPr>
        <p:spPr>
          <a:xfrm>
            <a:off x="914400" y="3246120"/>
            <a:ext cx="7314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4748b"/>
                </a:solidFill>
                <a:uFillTx/>
                <a:latin typeface="Arial"/>
                <a:ea typeface="Arial"/>
              </a:rPr>
              <a:t>Data structures, algorithms, and complexity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0"/>
          <p:cNvSpPr/>
          <p:nvPr/>
        </p:nvSpPr>
        <p:spPr>
          <a:xfrm>
            <a:off x="0" y="0"/>
            <a:ext cx="9143640" cy="45684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49" name="Text 1"/>
          <p:cNvSpPr/>
          <p:nvPr/>
        </p:nvSpPr>
        <p:spPr>
          <a:xfrm>
            <a:off x="457200" y="10980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LRU CACHE DATA STRUCTURES</a:t>
            </a:r>
            <a:endParaRPr b="0" lang="en-US" sz="2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50" name="Table 0"/>
          <p:cNvGraphicFramePr/>
          <p:nvPr/>
        </p:nvGraphicFramePr>
        <p:xfrm>
          <a:off x="365760" y="1005840"/>
          <a:ext cx="8412120" cy="2102760"/>
        </p:xfrm>
        <a:graphic>
          <a:graphicData uri="http://schemas.openxmlformats.org/drawingml/2006/table">
            <a:tbl>
              <a:tblPr rtl="0" firstCol="0" lastCol="0" firstRow="0" lastRow="0" bandRow="0" bandCol="0"/>
              <a:tblGrid>
                <a:gridCol w="2103120"/>
                <a:gridCol w="2651760"/>
                <a:gridCol w="3657600"/>
              </a:tblGrid>
              <a:tr h="420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  <a:ea typeface="Arial"/>
                        </a:rPr>
                        <a:t>Component</a:t>
                      </a:r>
                      <a:endParaRPr b="0" lang="en-US" sz="105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  <a:ea typeface="Arial"/>
                        </a:rPr>
                        <a:t>Data Structure</a:t>
                      </a:r>
                      <a:endParaRPr b="0" lang="en-US" sz="105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  <a:ea typeface="Arial"/>
                        </a:rPr>
                        <a:t>Purpose</a:t>
                      </a:r>
                      <a:endParaRPr b="0" lang="en-US" sz="105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2c5282"/>
                    </a:solidFill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Cache Storage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Stack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Stores pages with MRU at top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Page Lookup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Linear Search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Check if page exists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Eviction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Pop Operation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Remove LRU page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</a:tr>
              <a:tr h="42048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Metrics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Variables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Track hits and misses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1" name="Text 2"/>
          <p:cNvSpPr/>
          <p:nvPr/>
        </p:nvSpPr>
        <p:spPr>
          <a:xfrm>
            <a:off x="365760" y="3291840"/>
            <a:ext cx="841212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n-US" sz="950" strike="noStrike" u="none">
                <a:solidFill>
                  <a:srgbClr val="64748b"/>
                </a:solidFill>
                <a:uFillTx/>
                <a:latin typeface="Arial"/>
                <a:ea typeface="Arial"/>
              </a:rPr>
              <a:t>Time Complexity: O(n) for access and eviction</a:t>
            </a:r>
            <a:endParaRPr b="0" lang="en-US" sz="9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Text 3"/>
          <p:cNvSpPr/>
          <p:nvPr/>
        </p:nvSpPr>
        <p:spPr>
          <a:xfrm>
            <a:off x="457200" y="4892040"/>
            <a:ext cx="8229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uFillTx/>
                <a:latin typeface="Arial"/>
                <a:ea typeface="Arial"/>
              </a:rPr>
              <a:t>VARDHAMAN COLLEGE OF ENGINEERING • DEPT OF COMPUTER SCIENCE &amp; ENGINEERING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/>
          <p:cNvSpPr/>
          <p:nvPr/>
        </p:nvSpPr>
        <p:spPr>
          <a:xfrm>
            <a:off x="0" y="0"/>
            <a:ext cx="9143640" cy="45684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4" name="Text 1"/>
          <p:cNvSpPr/>
          <p:nvPr/>
        </p:nvSpPr>
        <p:spPr>
          <a:xfrm>
            <a:off x="457200" y="10980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CACHE HIT vs MISS</a:t>
            </a:r>
            <a:endParaRPr b="0" lang="en-US" sz="2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Shape 2"/>
          <p:cNvSpPr/>
          <p:nvPr/>
        </p:nvSpPr>
        <p:spPr>
          <a:xfrm>
            <a:off x="365760" y="960120"/>
            <a:ext cx="4205880" cy="21484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f8fa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" name="Shape 3"/>
          <p:cNvSpPr/>
          <p:nvPr/>
        </p:nvSpPr>
        <p:spPr>
          <a:xfrm>
            <a:off x="365760" y="960120"/>
            <a:ext cx="4205880" cy="72720"/>
          </a:xfrm>
          <a:prstGeom prst="rect">
            <a:avLst/>
          </a:prstGeom>
          <a:solidFill>
            <a:srgbClr val="10b98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57" name="Text 4"/>
          <p:cNvSpPr/>
          <p:nvPr/>
        </p:nvSpPr>
        <p:spPr>
          <a:xfrm>
            <a:off x="548640" y="1051560"/>
            <a:ext cx="3840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0b981"/>
                </a:solidFill>
                <a:uFillTx/>
                <a:latin typeface="Arial"/>
                <a:ea typeface="Arial"/>
              </a:rPr>
              <a:t>✓ </a:t>
            </a:r>
            <a:r>
              <a:rPr b="1" lang="en-US" sz="1200" strike="noStrike" u="none">
                <a:solidFill>
                  <a:srgbClr val="10b981"/>
                </a:solidFill>
                <a:uFillTx/>
                <a:latin typeface="Arial"/>
                <a:ea typeface="Arial"/>
              </a:rPr>
              <a:t>CACHE HIT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Text 5"/>
          <p:cNvSpPr/>
          <p:nvPr/>
        </p:nvSpPr>
        <p:spPr>
          <a:xfrm>
            <a:off x="548640" y="1371600"/>
            <a:ext cx="38401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e293b"/>
                </a:solidFill>
                <a:uFillTx/>
                <a:latin typeface="Arial"/>
                <a:ea typeface="Arial"/>
              </a:rPr>
              <a:t>Page found in cache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e293b"/>
                </a:solidFill>
                <a:uFillTx/>
                <a:latin typeface="Arial"/>
                <a:ea typeface="Arial"/>
              </a:rPr>
              <a:t>Move to MRU position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e293b"/>
                </a:solidFill>
                <a:uFillTx/>
                <a:latin typeface="Arial"/>
                <a:ea typeface="Arial"/>
              </a:rPr>
              <a:t>No eviction needed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9" name="Shape 6"/>
          <p:cNvSpPr/>
          <p:nvPr/>
        </p:nvSpPr>
        <p:spPr>
          <a:xfrm>
            <a:off x="4663440" y="960120"/>
            <a:ext cx="4205880" cy="21484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f8fa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0" name="Shape 7"/>
          <p:cNvSpPr/>
          <p:nvPr/>
        </p:nvSpPr>
        <p:spPr>
          <a:xfrm>
            <a:off x="4663440" y="960120"/>
            <a:ext cx="4205880" cy="72720"/>
          </a:xfrm>
          <a:prstGeom prst="rect">
            <a:avLst/>
          </a:prstGeom>
          <a:solidFill>
            <a:srgbClr val="ef444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1" name="Text 8"/>
          <p:cNvSpPr/>
          <p:nvPr/>
        </p:nvSpPr>
        <p:spPr>
          <a:xfrm>
            <a:off x="4846320" y="1051560"/>
            <a:ext cx="38401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ef4444"/>
                </a:solidFill>
                <a:uFillTx/>
                <a:latin typeface="Arial"/>
                <a:ea typeface="Arial"/>
              </a:rPr>
              <a:t>✗ </a:t>
            </a:r>
            <a:r>
              <a:rPr b="1" lang="en-US" sz="1200" strike="noStrike" u="none">
                <a:solidFill>
                  <a:srgbClr val="ef4444"/>
                </a:solidFill>
                <a:uFillTx/>
                <a:latin typeface="Arial"/>
                <a:ea typeface="Arial"/>
              </a:rPr>
              <a:t>CACHE MISS</a:t>
            </a:r>
            <a:endParaRPr b="0" lang="en-US" sz="1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Text 9"/>
          <p:cNvSpPr/>
          <p:nvPr/>
        </p:nvSpPr>
        <p:spPr>
          <a:xfrm>
            <a:off x="4846320" y="1371600"/>
            <a:ext cx="384012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e293b"/>
                </a:solidFill>
                <a:uFillTx/>
                <a:latin typeface="Arial"/>
                <a:ea typeface="Arial"/>
              </a:rPr>
              <a:t>Page not in cache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e293b"/>
                </a:solidFill>
                <a:uFillTx/>
                <a:latin typeface="Arial"/>
                <a:ea typeface="Arial"/>
              </a:rPr>
              <a:t>Evict LRU if full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e293b"/>
                </a:solidFill>
                <a:uFillTx/>
                <a:latin typeface="Arial"/>
                <a:ea typeface="Arial"/>
              </a:rPr>
              <a:t>Insert new as MRU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3" name="Text 10"/>
          <p:cNvSpPr/>
          <p:nvPr/>
        </p:nvSpPr>
        <p:spPr>
          <a:xfrm>
            <a:off x="457200" y="4892040"/>
            <a:ext cx="8229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uFillTx/>
                <a:latin typeface="Arial"/>
                <a:ea typeface="Arial"/>
              </a:rPr>
              <a:t>VARDHAMAN COLLEGE OF ENGINEERING • DEPT OF COMPUTER SCIENCE &amp; ENGINEERING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Shape 0"/>
          <p:cNvSpPr/>
          <p:nvPr/>
        </p:nvSpPr>
        <p:spPr>
          <a:xfrm>
            <a:off x="0" y="0"/>
            <a:ext cx="9143640" cy="45684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5" name="Shape 1"/>
          <p:cNvSpPr/>
          <p:nvPr/>
        </p:nvSpPr>
        <p:spPr>
          <a:xfrm>
            <a:off x="0" y="457200"/>
            <a:ext cx="9143640" cy="7272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66" name="Text 2"/>
          <p:cNvSpPr/>
          <p:nvPr/>
        </p:nvSpPr>
        <p:spPr>
          <a:xfrm>
            <a:off x="457200" y="1645920"/>
            <a:ext cx="8229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000" strike="noStrike" u="none">
                <a:solidFill>
                  <a:srgbClr val="2c5282"/>
                </a:solidFill>
                <a:uFillTx/>
                <a:latin typeface="Arial"/>
                <a:ea typeface="Arial"/>
              </a:rPr>
              <a:t>03</a:t>
            </a:r>
            <a:endParaRPr b="0" lang="en-US" sz="7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Text 3"/>
          <p:cNvSpPr/>
          <p:nvPr/>
        </p:nvSpPr>
        <p:spPr>
          <a:xfrm>
            <a:off x="457200" y="27432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trike="noStrike" u="none">
                <a:solidFill>
                  <a:srgbClr val="2c5282"/>
                </a:solidFill>
                <a:uFillTx/>
                <a:latin typeface="Arial"/>
                <a:ea typeface="Arial"/>
              </a:rPr>
              <a:t>IMPLEMENTATION</a:t>
            </a:r>
            <a:endParaRPr b="0" lang="en-US" sz="1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Text 4"/>
          <p:cNvSpPr/>
          <p:nvPr/>
        </p:nvSpPr>
        <p:spPr>
          <a:xfrm>
            <a:off x="914400" y="3246120"/>
            <a:ext cx="73148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trike="noStrike" u="none">
                <a:solidFill>
                  <a:srgbClr val="64748b"/>
                </a:solidFill>
                <a:uFillTx/>
                <a:latin typeface="Arial"/>
                <a:ea typeface="Arial"/>
              </a:rPr>
              <a:t>Complete code with class and core methods</a:t>
            </a:r>
            <a:endParaRPr b="0" lang="en-US" sz="1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0"/>
          <p:cNvSpPr/>
          <p:nvPr/>
        </p:nvSpPr>
        <p:spPr>
          <a:xfrm>
            <a:off x="0" y="0"/>
            <a:ext cx="9143640" cy="45684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0" name="Text 1"/>
          <p:cNvSpPr/>
          <p:nvPr/>
        </p:nvSpPr>
        <p:spPr>
          <a:xfrm>
            <a:off x="457200" y="10980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COMPLETE CODE - CLASS DEFINITION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1" name="Shape 2"/>
          <p:cNvSpPr/>
          <p:nvPr/>
        </p:nvSpPr>
        <p:spPr>
          <a:xfrm>
            <a:off x="247680" y="601200"/>
            <a:ext cx="8524440" cy="4146840"/>
          </a:xfrm>
          <a:prstGeom prst="rect">
            <a:avLst/>
          </a:prstGeom>
          <a:solidFill>
            <a:srgbClr val="0f172a"/>
          </a:solidFill>
          <a:ln w="1905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2" name="Text 3"/>
          <p:cNvSpPr/>
          <p:nvPr/>
        </p:nvSpPr>
        <p:spPr>
          <a:xfrm>
            <a:off x="548640" y="1051560"/>
            <a:ext cx="8046360" cy="34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class LRUCacheSimulator {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private: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</a:t>
            </a: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stack&lt;int&gt; cache;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</a:t>
            </a: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int cacheSize, currentSize;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</a:t>
            </a: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int hits, misses;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</a:t>
            </a: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bool isPresent(int page) {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    </a:t>
            </a: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stack&lt;int&gt; temp = cache;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    </a:t>
            </a: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while (!temp.empty()) {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        </a:t>
            </a: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if (temp.top() == page)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            </a:t>
            </a: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return true;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        </a:t>
            </a: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temp.pop();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    </a:t>
            </a: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}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    </a:t>
            </a: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return false;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</a:t>
            </a: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}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</a:t>
            </a: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void removePage(int page) {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    </a:t>
            </a: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stack&lt;int&gt; temp;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    </a:t>
            </a: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while (!cache.empty()) {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        </a:t>
            </a: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if (cache.top() != page)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            </a:t>
            </a: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temp.push(cache.top());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        </a:t>
            </a: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cache.pop();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    </a:t>
            </a: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}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    </a:t>
            </a: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while (!temp.empty()) {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        </a:t>
            </a: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cache.push(temp.top());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        </a:t>
            </a: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temp.pop();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    </a:t>
            </a: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}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</a:t>
            </a: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}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}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3" name="Text 4"/>
          <p:cNvSpPr/>
          <p:nvPr/>
        </p:nvSpPr>
        <p:spPr>
          <a:xfrm>
            <a:off x="457200" y="4892040"/>
            <a:ext cx="8229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uFillTx/>
                <a:latin typeface="Arial"/>
                <a:ea typeface="Arial"/>
              </a:rPr>
              <a:t>VARDHAMAN COLLEGE OF ENGINEERING • DEPT OF COMPUTER SCIENCE &amp; ENGINEERING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0"/>
          <p:cNvSpPr/>
          <p:nvPr/>
        </p:nvSpPr>
        <p:spPr>
          <a:xfrm>
            <a:off x="0" y="0"/>
            <a:ext cx="9143640" cy="45684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5" name="Text 1"/>
          <p:cNvSpPr/>
          <p:nvPr/>
        </p:nvSpPr>
        <p:spPr>
          <a:xfrm>
            <a:off x="457200" y="10980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COMPLETE CODE - CORE METHODS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Shape 2"/>
          <p:cNvSpPr/>
          <p:nvPr/>
        </p:nvSpPr>
        <p:spPr>
          <a:xfrm>
            <a:off x="320040" y="868680"/>
            <a:ext cx="8503560" cy="3794400"/>
          </a:xfrm>
          <a:prstGeom prst="rect">
            <a:avLst/>
          </a:prstGeom>
          <a:solidFill>
            <a:srgbClr val="0f172a"/>
          </a:solidFill>
          <a:ln w="1905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77" name="Text 3"/>
          <p:cNvSpPr/>
          <p:nvPr/>
        </p:nvSpPr>
        <p:spPr>
          <a:xfrm>
            <a:off x="548640" y="1051560"/>
            <a:ext cx="8046360" cy="34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void removeLRU() {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</a:t>
            </a: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stack&lt;int&gt; temp;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</a:t>
            </a: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while (cache.size() &gt; 1) {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    </a:t>
            </a: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temp.push(cache.top());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    </a:t>
            </a: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cache.pop();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</a:t>
            </a: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}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</a:t>
            </a: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cache.pop();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</a:t>
            </a: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currentSize--;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}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void accessPage(int page) {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</a:t>
            </a: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if (isPresent(page)) {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    </a:t>
            </a: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hits++;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    </a:t>
            </a: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removePage(page);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    </a:t>
            </a: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cache.push(page);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</a:t>
            </a: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} else {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    </a:t>
            </a: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misses++;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    </a:t>
            </a: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if (currentSize == cacheSize)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        </a:t>
            </a: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removeLRU();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    </a:t>
            </a: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cache.push(page);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    </a:t>
            </a: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currentSize++;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</a:t>
            </a: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}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0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}</a:t>
            </a:r>
            <a:endParaRPr b="0" lang="en-US" sz="9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Text 4"/>
          <p:cNvSpPr/>
          <p:nvPr/>
        </p:nvSpPr>
        <p:spPr>
          <a:xfrm>
            <a:off x="457200" y="4892040"/>
            <a:ext cx="8229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uFillTx/>
                <a:latin typeface="Arial"/>
                <a:ea typeface="Arial"/>
              </a:rPr>
              <a:t>VARDHAMAN COLLEGE OF ENGINEERING • DEPT OF COMPUTER SCIENCE &amp; ENGINEERING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hape 0"/>
          <p:cNvSpPr/>
          <p:nvPr/>
        </p:nvSpPr>
        <p:spPr>
          <a:xfrm>
            <a:off x="0" y="0"/>
            <a:ext cx="9143640" cy="45684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0" name="Text 1"/>
          <p:cNvSpPr/>
          <p:nvPr/>
        </p:nvSpPr>
        <p:spPr>
          <a:xfrm>
            <a:off x="457200" y="10980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COMPLETE CODE - MAIN FUNCTION</a:t>
            </a:r>
            <a:endParaRPr b="0" lang="en-US" sz="22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1" name="Shape 2"/>
          <p:cNvSpPr/>
          <p:nvPr/>
        </p:nvSpPr>
        <p:spPr>
          <a:xfrm>
            <a:off x="320040" y="868680"/>
            <a:ext cx="8503560" cy="3794400"/>
          </a:xfrm>
          <a:prstGeom prst="rect">
            <a:avLst/>
          </a:prstGeom>
          <a:solidFill>
            <a:srgbClr val="0f172a"/>
          </a:solidFill>
          <a:ln w="1905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2" name="Text 3"/>
          <p:cNvSpPr/>
          <p:nvPr/>
        </p:nvSpPr>
        <p:spPr>
          <a:xfrm>
            <a:off x="548640" y="1051560"/>
            <a:ext cx="8046360" cy="34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int main() {</a:t>
            </a:r>
            <a:endParaRPr b="0" lang="en-US" sz="88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</a:t>
            </a: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int cacheSize = 0;</a:t>
            </a:r>
            <a:endParaRPr b="0" lang="en-US" sz="88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</a:t>
            </a: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while (cacheSize &lt;= 0) {</a:t>
            </a:r>
            <a:endParaRPr b="0" lang="en-US" sz="88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    </a:t>
            </a: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cout &lt;&lt; "Enter cache capacity: ";</a:t>
            </a:r>
            <a:endParaRPr b="0" lang="en-US" sz="88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    </a:t>
            </a: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if (!(cin &gt;&gt; cacheSize) || cacheSize &lt;= 0) {</a:t>
            </a:r>
            <a:endParaRPr b="0" lang="en-US" sz="88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        </a:t>
            </a: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cin.clear();</a:t>
            </a:r>
            <a:endParaRPr b="0" lang="en-US" sz="88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        </a:t>
            </a: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cin.ignore();</a:t>
            </a:r>
            <a:endParaRPr b="0" lang="en-US" sz="88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        </a:t>
            </a: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cacheSize = 0;</a:t>
            </a:r>
            <a:endParaRPr b="0" lang="en-US" sz="88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    </a:t>
            </a: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}</a:t>
            </a:r>
            <a:endParaRPr b="0" lang="en-US" sz="88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</a:t>
            </a: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}</a:t>
            </a:r>
            <a:endParaRPr b="0" lang="en-US" sz="88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</a:t>
            </a:r>
            <a:endParaRPr b="0" lang="en-US" sz="88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</a:t>
            </a: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LRUCacheSimulator sim(cacheSize);</a:t>
            </a:r>
            <a:endParaRPr b="0" lang="en-US" sz="88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</a:t>
            </a: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int choice;</a:t>
            </a:r>
            <a:endParaRPr b="0" lang="en-US" sz="88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</a:t>
            </a:r>
            <a:endParaRPr b="0" lang="en-US" sz="88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</a:t>
            </a: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while (true) {</a:t>
            </a:r>
            <a:endParaRPr b="0" lang="en-US" sz="88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    </a:t>
            </a: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cout &lt;&lt; "[1] Access [2] Batch [3] Stats";</a:t>
            </a:r>
            <a:endParaRPr b="0" lang="en-US" sz="88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    </a:t>
            </a: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cout &lt;&lt; " [0] Exit\n";</a:t>
            </a:r>
            <a:endParaRPr b="0" lang="en-US" sz="88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    </a:t>
            </a: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cin &gt;&gt; choice;</a:t>
            </a:r>
            <a:endParaRPr b="0" lang="en-US" sz="88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    </a:t>
            </a: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if (choice == 0) break;</a:t>
            </a:r>
            <a:endParaRPr b="0" lang="en-US" sz="88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    </a:t>
            </a: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if (choice == 1) {</a:t>
            </a:r>
            <a:endParaRPr b="0" lang="en-US" sz="88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        </a:t>
            </a: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int page;</a:t>
            </a:r>
            <a:endParaRPr b="0" lang="en-US" sz="88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        </a:t>
            </a: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cout &lt;&lt; "Page: ";</a:t>
            </a:r>
            <a:endParaRPr b="0" lang="en-US" sz="88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        </a:t>
            </a: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cin &gt;&gt; page;</a:t>
            </a:r>
            <a:endParaRPr b="0" lang="en-US" sz="88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        </a:t>
            </a: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sim.accessPage(page);</a:t>
            </a:r>
            <a:endParaRPr b="0" lang="en-US" sz="88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    </a:t>
            </a: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}</a:t>
            </a:r>
            <a:endParaRPr b="0" lang="en-US" sz="88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</a:t>
            </a: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}</a:t>
            </a:r>
            <a:endParaRPr b="0" lang="en-US" sz="88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    </a:t>
            </a: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return 0;</a:t>
            </a:r>
            <a:endParaRPr b="0" lang="en-US" sz="88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80" strike="noStrike" u="none">
                <a:solidFill>
                  <a:srgbClr val="06f6d4"/>
                </a:solidFill>
                <a:uFillTx/>
                <a:latin typeface="Courier New"/>
                <a:ea typeface="Courier New"/>
              </a:rPr>
              <a:t>}</a:t>
            </a:r>
            <a:endParaRPr b="0" lang="en-US" sz="88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" name="Text 4"/>
          <p:cNvSpPr/>
          <p:nvPr/>
        </p:nvSpPr>
        <p:spPr>
          <a:xfrm>
            <a:off x="457200" y="4892040"/>
            <a:ext cx="8229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uFillTx/>
                <a:latin typeface="Arial"/>
                <a:ea typeface="Arial"/>
              </a:rPr>
              <a:t>VARDHAMAN COLLEGE OF ENGINEERING • DEPT OF COMPUTER SCIENCE &amp; ENGINEERING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Shape 0"/>
          <p:cNvSpPr/>
          <p:nvPr/>
        </p:nvSpPr>
        <p:spPr>
          <a:xfrm>
            <a:off x="0" y="0"/>
            <a:ext cx="9143640" cy="45684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5" name="Text 1"/>
          <p:cNvSpPr/>
          <p:nvPr/>
        </p:nvSpPr>
        <p:spPr>
          <a:xfrm>
            <a:off x="457200" y="10980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EXECUTION &amp; RESULTS</a:t>
            </a:r>
            <a:endParaRPr b="0" lang="en-US" sz="2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Shape 2"/>
          <p:cNvSpPr/>
          <p:nvPr/>
        </p:nvSpPr>
        <p:spPr>
          <a:xfrm>
            <a:off x="320040" y="914400"/>
            <a:ext cx="8503560" cy="3520080"/>
          </a:xfrm>
          <a:prstGeom prst="rect">
            <a:avLst/>
          </a:prstGeom>
          <a:solidFill>
            <a:srgbClr val="0f172a"/>
          </a:solidFill>
          <a:ln w="1905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87" name="Text 3"/>
          <p:cNvSpPr/>
          <p:nvPr/>
        </p:nvSpPr>
        <p:spPr>
          <a:xfrm>
            <a:off x="548640" y="1097280"/>
            <a:ext cx="8046360" cy="315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0b981"/>
                </a:solidFill>
                <a:uFillTx/>
                <a:latin typeface="Courier New"/>
                <a:ea typeface="Courier New"/>
              </a:rPr>
              <a:t>Cache Size: 3 | Requests: [1, 2, 3, 1, 4, 2]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0b981"/>
                </a:solidFill>
                <a:uFillTx/>
                <a:latin typeface="Courier New"/>
                <a:ea typeface="Courier New"/>
              </a:rPr>
              <a:t>Access 1 → MISS  | Cache: [1]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0b981"/>
                </a:solidFill>
                <a:uFillTx/>
                <a:latin typeface="Courier New"/>
                <a:ea typeface="Courier New"/>
              </a:rPr>
              <a:t>Access 2 → MISS  | Cache: [2, 1]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0b981"/>
                </a:solidFill>
                <a:uFillTx/>
                <a:latin typeface="Courier New"/>
                <a:ea typeface="Courier New"/>
              </a:rPr>
              <a:t>Access 3 → MISS  | Cache: [3, 2, 1]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0b981"/>
                </a:solidFill>
                <a:uFillTx/>
                <a:latin typeface="Courier New"/>
                <a:ea typeface="Courier New"/>
              </a:rPr>
              <a:t>Access 1 → HIT   | Cache: [1, 3, 2]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0b981"/>
                </a:solidFill>
                <a:uFillTx/>
                <a:latin typeface="Courier New"/>
                <a:ea typeface="Courier New"/>
              </a:rPr>
              <a:t>Access 4 → MISS  | Evicted: 2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0b981"/>
                </a:solidFill>
                <a:uFillTx/>
                <a:latin typeface="Courier New"/>
                <a:ea typeface="Courier New"/>
              </a:rPr>
              <a:t>Access 2 → MISS  | Evicted: 3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0b981"/>
                </a:solidFill>
                <a:uFillTx/>
                <a:latin typeface="Courier New"/>
                <a:ea typeface="Courier New"/>
              </a:rPr>
              <a:t>Hits: 1 (16.7%) | Misses: 5 (83.3%)</a:t>
            </a:r>
            <a:endParaRPr b="0" lang="en-US" sz="10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8" name="Text 4"/>
          <p:cNvSpPr/>
          <p:nvPr/>
        </p:nvSpPr>
        <p:spPr>
          <a:xfrm>
            <a:off x="457200" y="4892040"/>
            <a:ext cx="8229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uFillTx/>
                <a:latin typeface="Arial"/>
                <a:ea typeface="Arial"/>
              </a:rPr>
              <a:t>VARDHAMAN COLLEGE OF ENGINEERING • DEPT OF COMPUTER SCIENCE &amp; ENGINEERING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hape 0"/>
          <p:cNvSpPr/>
          <p:nvPr/>
        </p:nvSpPr>
        <p:spPr>
          <a:xfrm>
            <a:off x="0" y="0"/>
            <a:ext cx="9143640" cy="456840"/>
          </a:xfrm>
          <a:prstGeom prst="rect">
            <a:avLst/>
          </a:prstGeom>
          <a:solidFill>
            <a:srgbClr val="1e3a5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0" name="Text 1"/>
          <p:cNvSpPr/>
          <p:nvPr/>
        </p:nvSpPr>
        <p:spPr>
          <a:xfrm>
            <a:off x="457200" y="109800"/>
            <a:ext cx="82292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TEAM MEMBERS</a:t>
            </a:r>
            <a:endParaRPr b="0" lang="en-US" sz="230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graphicFrame>
        <p:nvGraphicFramePr>
          <p:cNvPr id="91" name="Table 0"/>
          <p:cNvGraphicFramePr/>
          <p:nvPr/>
        </p:nvGraphicFramePr>
        <p:xfrm>
          <a:off x="320040" y="960120"/>
          <a:ext cx="8457840" cy="3474360"/>
        </p:xfrm>
        <a:graphic>
          <a:graphicData uri="http://schemas.openxmlformats.org/drawingml/2006/table">
            <a:tbl>
              <a:tblPr rtl="0" firstCol="0" lastCol="0" firstRow="0" lastRow="0" bandRow="0" bandCol="0"/>
              <a:tblGrid>
                <a:gridCol w="1188720"/>
                <a:gridCol w="2468880"/>
                <a:gridCol w="1645920"/>
                <a:gridCol w="1554480"/>
                <a:gridCol w="1600200"/>
              </a:tblGrid>
              <a:tr h="4960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  <a:ea typeface="Arial"/>
                        </a:rPr>
                        <a:t>Role</a:t>
                      </a:r>
                      <a:endParaRPr b="0" lang="en-US" sz="105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  <a:ea typeface="Arial"/>
                        </a:rPr>
                        <a:t>Name</a:t>
                      </a:r>
                      <a:endParaRPr b="0" lang="en-US" sz="105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  <a:ea typeface="Arial"/>
                        </a:rPr>
                        <a:t>Roll No.</a:t>
                      </a:r>
                      <a:endParaRPr b="0" lang="en-US" sz="105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  <a:ea typeface="Arial"/>
                        </a:rPr>
                        <a:t>Class</a:t>
                      </a:r>
                      <a:endParaRPr b="0" lang="en-US" sz="105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2c5282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050" strike="noStrike" u="none">
                          <a:solidFill>
                            <a:srgbClr val="ffffff"/>
                          </a:solidFill>
                          <a:uFillTx/>
                          <a:latin typeface="Arial"/>
                          <a:ea typeface="Arial"/>
                        </a:rPr>
                        <a:t>Section</a:t>
                      </a:r>
                      <a:endParaRPr b="0" lang="en-US" sz="1050" strike="noStrike" u="none">
                        <a:solidFill>
                          <a:srgbClr val="ffffff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solidFill>
                      <a:srgbClr val="2c5282"/>
                    </a:solidFill>
                  </a:tcPr>
                </a:tc>
              </a:tr>
              <a:tr h="4960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Team Leader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M Sai Bharga</a:t>
                      </a:r>
                      <a:r>
                        <a:rPr b="0" lang="en-IN" sz="105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v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25881A05GN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CSE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H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</a:tr>
              <a:tr h="4960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Member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M Harshith Kumar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25881A05FG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CSE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H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</a:tr>
              <a:tr h="4960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Member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E Adithya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25881A05ER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CSE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H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</a:tr>
              <a:tr h="4960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Member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K Yes</a:t>
                      </a:r>
                      <a:r>
                        <a:rPr b="0" lang="en-IN" sz="105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h</a:t>
                      </a: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wanth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25881A05HG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CSE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H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</a:tr>
              <a:tr h="4960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Member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G Rithik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25881A05GE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CSE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H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</a:tr>
              <a:tr h="496080"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Mentor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G Siddhartha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25881A05GV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CSE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914400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050" strike="noStrike" u="none">
                          <a:solidFill>
                            <a:srgbClr val="000000"/>
                          </a:solidFill>
                          <a:uFillTx/>
                          <a:latin typeface="Arial"/>
                          <a:ea typeface="Arial"/>
                        </a:rPr>
                        <a:t>H</a:t>
                      </a:r>
                      <a:endParaRPr b="0" lang="en-US" sz="1050" strike="noStrike" u="non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e2e8f0"/>
                      </a:solidFill>
                      <a:prstDash val="solid"/>
                    </a:lnL>
                    <a:lnR w="12240">
                      <a:solidFill>
                        <a:srgbClr val="e2e8f0"/>
                      </a:solidFill>
                      <a:prstDash val="solid"/>
                    </a:lnR>
                    <a:lnT w="12240">
                      <a:solidFill>
                        <a:srgbClr val="e2e8f0"/>
                      </a:solidFill>
                      <a:prstDash val="solid"/>
                    </a:lnT>
                    <a:lnB w="12240">
                      <a:solidFill>
                        <a:srgbClr val="e2e8f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2" name="Text 2"/>
          <p:cNvSpPr/>
          <p:nvPr/>
        </p:nvSpPr>
        <p:spPr>
          <a:xfrm>
            <a:off x="457200" y="4892040"/>
            <a:ext cx="8229240" cy="164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uFillTx/>
                <a:latin typeface="Arial"/>
                <a:ea typeface="Arial"/>
              </a:rPr>
              <a:t>VARDHAMAN COLLEGE OF ENGINEERING • DEPT OF COMPUTER SCIENCE &amp; ENGINEERING</a:t>
            </a:r>
            <a:endParaRPr b="0" lang="en-US" sz="8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84960" y="0"/>
            <a:ext cx="3545280" cy="1866960"/>
          </a:xfrm>
          <a:prstGeom prst="rect">
            <a:avLst/>
          </a:prstGeom>
          <a:noFill/>
          <a:ln w="25200">
            <a:noFill/>
          </a:ln>
        </p:spPr>
        <p:txBody>
          <a:bodyPr lIns="90000" rIns="90000" tIns="45000" bIns="45000" anchor="t">
            <a:spAutoFit/>
          </a:bodyPr>
          <a:p>
            <a:r>
              <a:rPr b="0" lang="en-US" sz="1050" strike="noStrike" u="none">
                <a:solidFill>
                  <a:srgbClr val="000000"/>
                </a:solidFill>
                <a:uFillTx/>
                <a:latin typeface="Arial"/>
                <a:ea typeface="Arial"/>
              </a:rPr>
              <a:t>CSE</a:t>
            </a:r>
            <a:endParaRPr b="0" lang="en-US" sz="1050" strike="noStrike" u="non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0"/>
          <p:cNvSpPr/>
          <p:nvPr/>
        </p:nvSpPr>
        <p:spPr>
          <a:xfrm>
            <a:off x="0" y="0"/>
            <a:ext cx="9143640" cy="365400"/>
          </a:xfrm>
          <a:prstGeom prst="rect">
            <a:avLst/>
          </a:prstGeom>
          <a:solidFill>
            <a:srgbClr val="0891b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5" name="Text 1"/>
          <p:cNvSpPr/>
          <p:nvPr/>
        </p:nvSpPr>
        <p:spPr>
          <a:xfrm>
            <a:off x="457200" y="1783080"/>
            <a:ext cx="822924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6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THANK YOU</a:t>
            </a:r>
            <a:endParaRPr b="0" lang="en-US" sz="46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6" name="Text 2"/>
          <p:cNvSpPr/>
          <p:nvPr/>
        </p:nvSpPr>
        <p:spPr>
          <a:xfrm>
            <a:off x="457200" y="2514600"/>
            <a:ext cx="82292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00" strike="noStrike" u="none">
                <a:solidFill>
                  <a:srgbClr val="06b6d4"/>
                </a:solidFill>
                <a:uFillTx/>
                <a:latin typeface="Arial"/>
                <a:ea typeface="Arial"/>
              </a:rPr>
              <a:t>LRU Cache Simulator Project</a:t>
            </a:r>
            <a:endParaRPr b="0" lang="en-US" sz="17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  <p:sp>
        <p:nvSpPr>
          <p:cNvPr id="97" name="Text 3"/>
          <p:cNvSpPr/>
          <p:nvPr/>
        </p:nvSpPr>
        <p:spPr>
          <a:xfrm>
            <a:off x="457200" y="306324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Vardhaman College of Engineering</a:t>
            </a:r>
            <a:endParaRPr b="0" lang="en-US" sz="1100" strike="noStrike" u="none">
              <a:solidFill>
                <a:srgbClr val="ffffff"/>
              </a:solidFill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ffffff"/>
                </a:solidFill>
                <a:uFillTx/>
                <a:latin typeface="Arial"/>
                <a:ea typeface="Arial"/>
              </a:rPr>
              <a:t>CSE Department • Summer 2025-26</a:t>
            </a:r>
            <a:endParaRPr b="0" lang="en-US" sz="1100" strike="noStrike" u="none">
              <a:solidFill>
                <a:srgbClr val="ffffff"/>
              </a:solidFill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Application>LibreOfficeDev/24.8.7.2.0$Android_AARCH64 LibreOffice_project/</Application>
  <AppVersion>15.0000</AppVersion>
  <Words>4691</Words>
  <Paragraphs>326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2026-06-28T08:58:00Z</dcterms:created>
  <dc:creator>CSE Department, Vardhaman College of Engineering</dc:creator>
  <dc:description/>
  <dc:language>en-US</dc:language>
  <cp:lastModifiedBy/>
  <dcterms:modified xsi:type="dcterms:W3CDTF">2026-06-28T15:36:26Z</dcterms:modified>
  <cp:revision>3</cp:revision>
  <dc:subject>PptxGenJS Presentation</dc:subject>
  <dc:title>LRU Cache Simulator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2F4FD5D93AAA4F82926EEC53C6A4CB8D_13</vt:lpwstr>
  </property>
  <property fmtid="{D5CDD505-2E9C-101B-9397-08002B2CF9AE}" pid="3" name="KSOProductBuildVer">
    <vt:lpwstr>1033-12.1.0.26880</vt:lpwstr>
  </property>
  <property fmtid="{D5CDD505-2E9C-101B-9397-08002B2CF9AE}" pid="4" name="Notes">
    <vt:i4>13</vt:i4>
  </property>
  <property fmtid="{D5CDD505-2E9C-101B-9397-08002B2CF9AE}" pid="5" name="PresentationFormat">
    <vt:lpwstr>On-screen Show (16:9)</vt:lpwstr>
  </property>
  <property fmtid="{D5CDD505-2E9C-101B-9397-08002B2CF9AE}" pid="6" name="Slides">
    <vt:i4>13</vt:i4>
  </property>
</Properties>
</file>